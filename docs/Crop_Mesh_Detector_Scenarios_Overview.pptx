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Segoe UI"/>
              </a:rPr>
              <a:t>Mesh Disruption Scenarios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85800"/>
            <a:ext cx="2743200" cy="38100"/>
          </a:xfrm>
          <a:prstGeom prst="rect">
            <a:avLst/>
          </a:prstGeom>
          <a:solidFill>
            <a:srgbClr val="0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68096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3D4A5C"/>
                </a:solidFill>
                <a:latin typeface="Segoe UI"/>
              </a:rPr>
              <a:t>Three real-world challenges tested against src/scenarios/ — mesh (knowledge-sharing) vs. a no-exchange baseline, same disruption schedule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3675887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3675887" cy="502920"/>
          </a:xfrm>
          <a:prstGeom prst="round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1. Disconnection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874520"/>
            <a:ext cx="34564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Segoe UI"/>
              </a:rPr>
              <a:t>Target node: node_1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2194560"/>
            <a:ext cx="345643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D4A5C"/>
                </a:solidFill>
                <a:latin typeface="Segoe UI"/>
              </a:rPr>
              <a:t>Simulates: Simulates a farm node dropping off the mesh mid-run (e.g. connectivity loss) and later reconnecting.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3063240"/>
            <a:ext cx="34564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Segoe UI"/>
              </a:rPr>
              <a:t>How it works: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3355848"/>
            <a:ext cx="3456431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19">
                <a:solidFill>
                  <a:srgbClr val="3D4A5C"/>
                </a:solidFill>
                <a:latin typeface="Segoe UI"/>
              </a:rPr>
              <a:t>•  At disconnect_round, the node's active flag flips to False — it keeps training on local data, but is excluded from knowledge broadcast / aggregation / distillation.</a:t>
            </a:r>
          </a:p>
          <a:p>
            <a:pPr>
              <a:spcAft>
                <a:spcPts val="500"/>
              </a:spcAft>
            </a:pPr>
            <a:r>
              <a:rPr sz="1019">
                <a:solidFill>
                  <a:srgbClr val="3D4A5C"/>
                </a:solidFill>
                <a:latin typeface="Segoe UI"/>
              </a:rPr>
              <a:t>•  At reconnect_round, active flips back to True and it resumes exchanging knowledge with peers.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5321808"/>
            <a:ext cx="34564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Segoe UI"/>
              </a:rPr>
              <a:t>Config (config.yaml):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5614416"/>
            <a:ext cx="345643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0F7A6B"/>
                </a:solidFill>
                <a:latin typeface="Consolas"/>
              </a:rPr>
              <a:t>target_node = node_1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0F7A6B"/>
                </a:solidFill>
                <a:latin typeface="Consolas"/>
              </a:rPr>
              <a:t>disconnect_round = 2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0F7A6B"/>
                </a:solidFill>
                <a:latin typeface="Consolas"/>
              </a:rPr>
              <a:t>reconnect_round =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97095" y="1234440"/>
            <a:ext cx="3675887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97095" y="1234440"/>
            <a:ext cx="3675887" cy="502920"/>
          </a:xfrm>
          <a:prstGeom prst="roundRect">
            <a:avLst/>
          </a:prstGeom>
          <a:solidFill>
            <a:srgbClr val="D97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2. Class Addition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6823" y="1874520"/>
            <a:ext cx="34564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Segoe UI"/>
              </a:rPr>
              <a:t>Target node: node_0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6823" y="2194560"/>
            <a:ext cx="345643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D4A5C"/>
                </a:solidFill>
                <a:latin typeface="Segoe UI"/>
              </a:rPr>
              <a:t>Simulates: Simulates a crop grown elsewhere in the mesh starting to appear at a different farm mid-run (e.g. crop rotation).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6823" y="3063240"/>
            <a:ext cx="34564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Segoe UI"/>
              </a:rPr>
              <a:t>How it works: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6823" y="3355848"/>
            <a:ext cx="3456431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19">
                <a:solidFill>
                  <a:srgbClr val="3D4A5C"/>
                </a:solidFill>
                <a:latin typeface="Segoe UI"/>
              </a:rPr>
              <a:t>•  A reserve_fraction slice of the source crop's samples is carved out of the source node's own shard beforehand — no duplication across nodes.</a:t>
            </a:r>
          </a:p>
          <a:p>
            <a:pPr>
              <a:spcAft>
                <a:spcPts val="500"/>
              </a:spcAft>
            </a:pPr>
            <a:r>
              <a:rPr sz="1019">
                <a:solidFill>
                  <a:srgbClr val="3D4A5C"/>
                </a:solidFill>
                <a:latin typeface="Segoe UI"/>
              </a:rPr>
              <a:t>•  At inject_round, that reserved slice is spliced into the target node's train + test sets, giving it sudden training signal and test coverage for a crop it never had.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6823" y="5321808"/>
            <a:ext cx="34564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Segoe UI"/>
              </a:rPr>
              <a:t>Config (config.yaml):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6823" y="5614416"/>
            <a:ext cx="345643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0F7A6B"/>
                </a:solidFill>
                <a:latin typeface="Consolas"/>
              </a:rPr>
              <a:t>target_node = node_0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0F7A6B"/>
                </a:solidFill>
                <a:latin typeface="Consolas"/>
              </a:rPr>
              <a:t>source_crop = Tomato (owned by node_2)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0F7A6B"/>
                </a:solidFill>
                <a:latin typeface="Consolas"/>
              </a:rPr>
              <a:t>inject_round = 2, reserve_fraction = 0.3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82710" y="1234440"/>
            <a:ext cx="3675887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82710" y="1234440"/>
            <a:ext cx="3675887" cy="50292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3. Distribution Shift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38" y="1874520"/>
            <a:ext cx="34564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Segoe UI"/>
              </a:rPr>
              <a:t>Target node: node_2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38" y="2194560"/>
            <a:ext cx="345643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D4A5C"/>
                </a:solidFill>
                <a:latin typeface="Segoe UI"/>
              </a:rPr>
              <a:t>Simulates: Simulates a farm's camera/lighting degrading mid-run (dust, broken lens, seasonal change) — images become progressively corrupted.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38" y="3063240"/>
            <a:ext cx="34564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Segoe UI"/>
              </a:rPr>
              <a:t>How it works: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38" y="3355848"/>
            <a:ext cx="3456431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19">
                <a:solidFill>
                  <a:srgbClr val="3D4A5C"/>
                </a:solidFill>
                <a:latin typeface="Segoe UI"/>
              </a:rPr>
              <a:t>•  From shift_round onward, the node's train and test sets are wrapped in a severity-scaled brightness shift + Gaussian blur + additive noise transform.</a:t>
            </a:r>
          </a:p>
          <a:p>
            <a:pPr>
              <a:spcAft>
                <a:spcPts val="500"/>
              </a:spcAft>
            </a:pPr>
            <a:r>
              <a:rPr sz="1019">
                <a:solidFill>
                  <a:srgbClr val="3D4A5C"/>
                </a:solidFill>
                <a:latin typeface="Segoe UI"/>
              </a:rPr>
              <a:t>•  severity = 0 is a verified no-op; nothing is corrupted before the shift round.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38" y="5321808"/>
            <a:ext cx="34564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Segoe UI"/>
              </a:rPr>
              <a:t>Config (config.yaml):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38" y="5614416"/>
            <a:ext cx="345643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0F7A6B"/>
                </a:solidFill>
                <a:latin typeface="Consolas"/>
              </a:rPr>
              <a:t>target_node = node_2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0F7A6B"/>
                </a:solidFill>
                <a:latin typeface="Consolas"/>
              </a:rPr>
              <a:t>shift_round = 2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0F7A6B"/>
                </a:solidFill>
                <a:latin typeface="Consolas"/>
              </a:rPr>
              <a:t>corruption = brightness_blur_noise, severity = 0.5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3796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D4A5C"/>
                </a:solidFill>
                <a:latin typeface="Segoe UI"/>
              </a:rPr>
              <a:t>Every run is a real PlantVillage-dataset simulation: two identical node sets (baseline vs. mesh) face the same disruption at the same round.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Segoe UI"/>
              </a:rPr>
              <a:t>Scenario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85800"/>
            <a:ext cx="2743200" cy="38100"/>
          </a:xfrm>
          <a:prstGeom prst="rect">
            <a:avLst/>
          </a:prstGeom>
          <a:solidFill>
            <a:srgbClr val="0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68096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3D4A5C"/>
                </a:solidFill>
                <a:latin typeface="Segoe UI"/>
              </a:rPr>
              <a:t>outputs/scenarios/{disconnection, class_addition, distribution_shift}.json — mesh vs. no-exchange baseline, crop accuracy per 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3703320" cy="365760"/>
          </a:xfrm>
          <a:prstGeom prst="round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Disconnection (node_1)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45920"/>
          <a:ext cx="370332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508760"/>
                <a:gridCol w="868680"/>
                <a:gridCol w="868680"/>
              </a:tblGrid>
              <a:tr h="280851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Rnd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Event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Mesh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Base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</a:tr>
              <a:tr h="280851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99.71%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80.22%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99.61%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98.02%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</a:tr>
              <a:tr h="280851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disconnect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98.69%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99.47%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99.08%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98.45%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</a:tr>
              <a:tr h="280851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reconnect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99.90%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98.55%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99.90%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99.13%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68503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Segoe UI"/>
              </a:rPr>
              <a:t>Recovery round — mesh: 4  |  baseline: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977640"/>
            <a:ext cx="3703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30">
                <a:solidFill>
                  <a:srgbClr val="3D4A5C"/>
                </a:solidFill>
                <a:latin typeface="Segoe UI"/>
              </a:rPr>
              <a:t>•  Bytes exchanged drop 66% (2.62M → 879K) the instant node_1 disconnects, and jump straight back on reconnect — hard evidence the toggle is real.</a:t>
            </a:r>
          </a:p>
          <a:p>
            <a:pPr>
              <a:spcAft>
                <a:spcPts val="400"/>
              </a:spcAft>
            </a:pPr>
            <a:r>
              <a:rPr sz="930">
                <a:solidFill>
                  <a:srgbClr val="3D4A5C"/>
                </a:solidFill>
                <a:latin typeface="Segoe UI"/>
              </a:rPr>
              <a:t>•  Baseline never shares knowledge, so its curve doesn't react to the disconnect at all; the mesh's spend is suspended in lockstep with the disruption, not a fixed tax.</a:t>
            </a:r>
          </a:p>
          <a:p>
            <a:pPr>
              <a:spcAft>
                <a:spcPts val="400"/>
              </a:spcAft>
            </a:pPr>
            <a:r>
              <a:rPr sz="930">
                <a:solidFill>
                  <a:srgbClr val="3D4A5C"/>
                </a:solidFill>
                <a:latin typeface="Segoe UI"/>
              </a:rPr>
              <a:t>•  No accuracy-recovery speed advantage in this run — the real evidence is clean exclusion / re-inclusion with no crash or corrupted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234440"/>
            <a:ext cx="3703320" cy="365760"/>
          </a:xfrm>
          <a:prstGeom prst="roundRect">
            <a:avLst/>
          </a:prstGeom>
          <a:solidFill>
            <a:srgbClr val="D97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Class Addition (node_0)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60520" y="1645920"/>
          <a:ext cx="370332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508760"/>
                <a:gridCol w="868680"/>
                <a:gridCol w="868680"/>
              </a:tblGrid>
              <a:tr h="280851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Rnd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Event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Mesh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Base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</a:tr>
              <a:tr h="280851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94.22%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70.67%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98.98%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90.64%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</a:tr>
              <a:tr h="280851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Tomato +4,393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99.01%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87.46%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99.90%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91.06%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</a:tr>
              <a:tr h="280851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99.90%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93.19%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99.80%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94.77%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60520" y="368503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Segoe UI"/>
              </a:rPr>
              <a:t>Recovery round — mesh: 2 (immediate)  |  baseline: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977640"/>
            <a:ext cx="3703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30">
                <a:solidFill>
                  <a:srgbClr val="3D4A5C"/>
                </a:solidFill>
                <a:latin typeface="Segoe UI"/>
              </a:rPr>
              <a:t>•  Clearest “mesh helps” result: node_0's mesh crop accuracy barely dips (98.98%→99.01%) the round Tomato appears, because peers already growing Tomato (node_2) contribute that knowledge instantly.</a:t>
            </a:r>
          </a:p>
          <a:p>
            <a:pPr>
              <a:spcAft>
                <a:spcPts val="400"/>
              </a:spcAft>
            </a:pPr>
            <a:r>
              <a:rPr sz="930">
                <a:solidFill>
                  <a:srgbClr val="3D4A5C"/>
                </a:solidFill>
                <a:latin typeface="Segoe UI"/>
              </a:rPr>
              <a:t>•  The baseline (learning the new crop alone) collapses on disease accuracy (95.4%→81.9%) and needs 3 more rounds to recover.</a:t>
            </a:r>
          </a:p>
          <a:p>
            <a:pPr>
              <a:spcAft>
                <a:spcPts val="400"/>
              </a:spcAft>
            </a:pPr>
            <a:r>
              <a:rPr sz="930">
                <a:solidFill>
                  <a:srgbClr val="3D4A5C"/>
                </a:solidFill>
                <a:latin typeface="Segoe UI"/>
              </a:rPr>
              <a:t>•  Mesh recovers 3 rounds faster than the baseline — a direct, quantified collaboration benefit.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234440"/>
            <a:ext cx="3703320" cy="36576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Distribution Shift (node_2)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955280" y="1645920"/>
          <a:ext cx="370332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508760"/>
                <a:gridCol w="868680"/>
                <a:gridCol w="868680"/>
              </a:tblGrid>
              <a:tr h="280851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Rnd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Event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Mesh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Base</a:t>
                      </a:r>
                    </a:p>
                  </a:txBody>
                  <a:tcPr anchor="ctr" marL="50800" marR="50800" marT="25400" marB="25400">
                    <a:solidFill>
                      <a:srgbClr val="1B2A4A"/>
                    </a:solidFill>
                  </a:tcPr>
                </a:tc>
              </a:tr>
              <a:tr h="280851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99.49%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95.30%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99.74%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98.68%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</a:tr>
              <a:tr h="280851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shift (sev 0.5)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99.84%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99.02%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99.56%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98.61%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</a:tr>
              <a:tr h="280851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99.72%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99.30%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99.70%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D4A5C"/>
                          </a:solidFill>
                          <a:latin typeface="Segoe UI"/>
                        </a:rPr>
                        <a:t>97.19%</a:t>
                      </a:r>
                    </a:p>
                  </a:txBody>
                  <a:tcPr anchor="ctr" marL="50800" marR="50800" marT="25400" marB="25400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955280" y="368503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Segoe UI"/>
              </a:rPr>
              <a:t>Recovery round — mesh: 2  |  baseline: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3977640"/>
            <a:ext cx="3703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30">
                <a:solidFill>
                  <a:srgbClr val="3D4A5C"/>
                </a:solidFill>
                <a:latin typeface="Segoe UI"/>
              </a:rPr>
              <a:t>•  shift_round corrupts train AND test together, so node_2's own local trajectory shows no clean before/after dip — the wrong lens for this disruption.</a:t>
            </a:r>
          </a:p>
          <a:p>
            <a:pPr>
              <a:spcAft>
                <a:spcPts val="400"/>
              </a:spcAft>
            </a:pPr>
            <a:r>
              <a:rPr sz="930">
                <a:solidFill>
                  <a:srgbClr val="3D4A5C"/>
                </a:solidFill>
                <a:latin typeface="Segoe UI"/>
              </a:rPr>
              <a:t>•  The real benefit shows at the macro level: by round 5, mesh beats baseline by +1.97pp crop / +3.62pp disease accuracy across all 3 nodes.</a:t>
            </a:r>
          </a:p>
          <a:p>
            <a:pPr>
              <a:spcAft>
                <a:spcPts val="400"/>
              </a:spcAft>
            </a:pPr>
            <a:r>
              <a:rPr sz="930">
                <a:solidFill>
                  <a:srgbClr val="3D4A5C"/>
                </a:solidFill>
                <a:latin typeface="Segoe UI"/>
              </a:rPr>
              <a:t>•  Proves the corruption pipeline runs correctly end-to-end, exactly once, with no crash.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D4A5C"/>
                </a:solidFill>
                <a:latin typeface="Segoe UI"/>
              </a:rPr>
              <a:t>gain_per_joule (final-round macro gain ÷ total mesh energy): Disconnection 2.5e-08 / Class Addition 2.2e-07 / Distribution Shift 2.3e-07 (crop_accuracy)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Segoe UI"/>
              </a:rPr>
              <a:t>Docker Mesh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85800"/>
            <a:ext cx="2743200" cy="38100"/>
          </a:xfrm>
          <a:prstGeom prst="rect">
            <a:avLst/>
          </a:prstGeom>
          <a:solidFill>
            <a:srgbClr val="0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68096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3D4A5C"/>
                </a:solidFill>
                <a:latin typeface="Segoe UI"/>
              </a:rPr>
              <a:t>docker/docker-compose.yml — 5 containers on one Compose bridge network (“mesh”)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7040880" cy="3566160"/>
          </a:xfrm>
          <a:prstGeom prst="roundRect">
            <a:avLst/>
          </a:prstGeom>
          <a:solidFill>
            <a:srgbClr val="EEF3F6"/>
          </a:solidFill>
          <a:ln w="15875">
            <a:solidFill>
              <a:srgbClr val="D6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D4A5C"/>
                </a:solidFill>
                <a:latin typeface="Segoe UI"/>
              </a:rPr>
              <a:t>docker compose network: mesh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" y="1691640"/>
            <a:ext cx="16916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>
                <a:solidFill>
                  <a:srgbClr val="1B2A4A"/>
                </a:solidFill>
                <a:latin typeface="Segoe UI"/>
              </a:rPr>
              <a:t>node_0
port 8000 (internal)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86100" y="1691640"/>
            <a:ext cx="16916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>
                <a:solidFill>
                  <a:srgbClr val="1B2A4A"/>
                </a:solidFill>
                <a:latin typeface="Segoe UI"/>
              </a:rPr>
              <a:t>node_1
port 8000 (internal)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7780" y="1691640"/>
            <a:ext cx="16916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>
                <a:solidFill>
                  <a:srgbClr val="1B2A4A"/>
                </a:solidFill>
                <a:latin typeface="Segoe UI"/>
              </a:rPr>
              <a:t>node_2
port 8000 (internal)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3154680"/>
            <a:ext cx="2377440" cy="7772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coordinator
port 9000 → host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2468880"/>
            <a:ext cx="2011680" cy="685800"/>
          </a:xfrm>
          <a:prstGeom prst="line">
            <a:avLst/>
          </a:prstGeom>
          <a:ln w="15875">
            <a:solidFill>
              <a:srgbClr val="3D4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931920" y="2468880"/>
            <a:ext cx="0" cy="685800"/>
          </a:xfrm>
          <a:prstGeom prst="line">
            <a:avLst/>
          </a:prstGeom>
          <a:ln w="15875">
            <a:solidFill>
              <a:srgbClr val="3D4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931920" y="2468880"/>
            <a:ext cx="2011680" cy="685800"/>
          </a:xfrm>
          <a:prstGeom prst="line">
            <a:avLst/>
          </a:prstGeom>
          <a:ln w="15875">
            <a:solidFill>
              <a:srgbClr val="3D4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2523744"/>
            <a:ext cx="7040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3D4A5C"/>
                </a:solidFill>
                <a:latin typeface="Segoe UI"/>
              </a:rPr>
              <a:t>/round/start , /round/gather  (coordinator drives the round loop)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66060" y="2080260"/>
            <a:ext cx="320040" cy="0"/>
          </a:xfrm>
          <a:prstGeom prst="line">
            <a:avLst/>
          </a:prstGeom>
          <a:ln w="13970">
            <a:solidFill>
              <a:srgbClr val="D973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77740" y="2080260"/>
            <a:ext cx="320040" cy="0"/>
          </a:xfrm>
          <a:prstGeom prst="line">
            <a:avLst/>
          </a:prstGeom>
          <a:ln w="13970">
            <a:solidFill>
              <a:srgbClr val="D973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480" y="1673352"/>
            <a:ext cx="7040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" b="0" i="0">
                <a:solidFill>
                  <a:srgbClr val="3D4A5C"/>
                </a:solidFill>
                <a:latin typeface="Segoe UI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51960"/>
            <a:ext cx="2834640" cy="502920"/>
          </a:xfrm>
          <a:prstGeom prst="roundRect">
            <a:avLst/>
          </a:prstGeom>
          <a:solidFill>
            <a:srgbClr val="E4E9EE"/>
          </a:solidFill>
          <a:ln w="1905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00" b="0">
                <a:solidFill>
                  <a:srgbClr val="1B2A4A"/>
                </a:solidFill>
                <a:latin typeface="Segoe UI"/>
              </a:rPr>
              <a:t>outputs/docker_mesh/energy/ (shared volume: per-node + merged SQLite)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811780" y="3931920"/>
            <a:ext cx="644652" cy="320040"/>
          </a:xfrm>
          <a:prstGeom prst="line">
            <a:avLst/>
          </a:prstGeom>
          <a:ln w="13970">
            <a:solidFill>
              <a:srgbClr val="3D4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560320" y="5120640"/>
            <a:ext cx="2743200" cy="777240"/>
          </a:xfrm>
          <a:prstGeom prst="round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dashboard
port 8501 → host (Streamlit)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4288536" y="3931920"/>
            <a:ext cx="54864" cy="1188720"/>
          </a:xfrm>
          <a:prstGeom prst="line">
            <a:avLst/>
          </a:prstGeom>
          <a:ln w="15875">
            <a:solidFill>
              <a:srgbClr val="3D4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2811780" y="4754880"/>
            <a:ext cx="434340" cy="365760"/>
          </a:xfrm>
          <a:prstGeom prst="line">
            <a:avLst/>
          </a:prstGeom>
          <a:ln w="13970">
            <a:solidFill>
              <a:srgbClr val="3D4A5C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82880" y="5212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1">
                <a:solidFill>
                  <a:srgbClr val="3D4A5C"/>
                </a:solidFill>
                <a:latin typeface="Segoe UI"/>
              </a:rPr>
              <a:t>GET /events
(coordinator log)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6035040"/>
            <a:ext cx="2743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00" b="0">
                <a:solidFill>
                  <a:srgbClr val="3D4A5C"/>
                </a:solidFill>
                <a:latin typeface="Segoe UI"/>
              </a:rPr>
              <a:t>Host machine / browser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31920" y="5897880"/>
            <a:ext cx="0" cy="137160"/>
          </a:xfrm>
          <a:prstGeom prst="line">
            <a:avLst/>
          </a:prstGeom>
          <a:ln w="13970">
            <a:solidFill>
              <a:srgbClr val="3D4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635240" y="1234440"/>
            <a:ext cx="4114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2A4A"/>
                </a:solidFill>
                <a:latin typeface="Segoe UI"/>
              </a:rPr>
              <a:t>What each container does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3D4A5C"/>
                </a:solidFill>
                <a:latin typeface="Segoe UI"/>
              </a:rPr>
              <a:t>•  node_0 / node_1 / node_2 — per-farm shards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D4A5C"/>
                </a:solidFill>
                <a:latin typeface="Segoe UI"/>
              </a:rPr>
              <a:t>  Each holds a private, non-IID data shard; serves /health, /log, /round/start, /knowledge/{round}, /round/gather. No host port — container-to-container traffic resolves by service name (http://node_0:8000).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3D4A5C"/>
                </a:solidFill>
                <a:latin typeface="Segoe UI"/>
              </a:rPr>
              <a:t>•  coordinator — round orchestrator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D4A5C"/>
                </a:solidFill>
                <a:latin typeface="Segoe UI"/>
              </a:rPr>
              <a:t>  Drives the federated round loop across all 3 nodes; exposes /events and /log on host port 9000 for inspection.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3D4A5C"/>
                </a:solidFill>
                <a:latin typeface="Segoe UI"/>
              </a:rPr>
              <a:t>•  dashboard — read-only Streamlit UI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D4A5C"/>
                </a:solidFill>
                <a:latin typeface="Segoe UI"/>
              </a:rPr>
              <a:t>  Polls the coordinator's /events and reads the shared, read-only energy volume (merged.db); exposed on host port 8501.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3D4A5C"/>
                </a:solidFill>
                <a:latin typeface="Segoe UI"/>
              </a:rPr>
              <a:t>•  shared volume — energy/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D4A5C"/>
                </a:solidFill>
                <a:latin typeface="Segoe UI"/>
              </a:rPr>
              <a:t>  Bind-mounted into every container; each node writes its own SQLite db, the coordinator writes the merged db that the dashboard reads.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3D4A5C"/>
                </a:solidFill>
                <a:latin typeface="Segoe UI"/>
              </a:rPr>
              <a:t>•  why this shape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D4A5C"/>
                </a:solidFill>
                <a:latin typeface="Segoe UI"/>
              </a:rPr>
              <a:t>  Nodes never expose ports to the host — only the coordinator and dashboard do — because only those two need to be reachable from outside the mesh network; peer-to-peer knowledge exchange stays entirely inside Compose's private bridge.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Segoe UI"/>
              </a:rPr>
              <a:t>Why This Exists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85800"/>
            <a:ext cx="2743200" cy="38100"/>
          </a:xfrm>
          <a:prstGeom prst="rect">
            <a:avLst/>
          </a:prstGeom>
          <a:solidFill>
            <a:srgbClr val="0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68096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3D4A5C"/>
                </a:solidFill>
                <a:latin typeface="Segoe UI"/>
              </a:rPr>
              <a:t>The mesh's design rationale, and why these three disruption scenarios were built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55321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5532120" cy="45720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Why a decentralised mesh, not central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257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3D4A5C"/>
                </a:solidFill>
                <a:latin typeface="Segoe UI"/>
              </a:rPr>
              <a:t>•  Each farm only ever exchanges small derived knowledge — class-embedding prototypes + soft logits on a shared public probe set — never raw images, labels, gradients, or model weights.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D4A5C"/>
                </a:solidFill>
                <a:latin typeface="Segoe UI"/>
              </a:rPr>
              <a:t>•  Preserves each farm's data privacy while still letting the whole mesh benefit from what every node has learned.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D4A5C"/>
                </a:solidFill>
                <a:latin typeface="Segoe UI"/>
              </a:rPr>
              <a:t>•  Targets real edge hardware (Raspberry Pi / K210): the deployed model must stay small, so knowledge distillation — not full weight sharing — is the transport.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34440"/>
            <a:ext cx="55321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532120" cy="457200"/>
          </a:xfrm>
          <a:prstGeom prst="round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Why these 3 specific scenarios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783080"/>
            <a:ext cx="5257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3D4A5C"/>
                </a:solidFill>
                <a:latin typeface="Segoe UI"/>
              </a:rPr>
              <a:t>•  src/train.py already exercises non-IID data as a mesh challenge — these scripts add the three other commonly-required challenge types the base pipeline doesn't cover.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D4A5C"/>
                </a:solidFill>
                <a:latin typeface="Segoe UI"/>
              </a:rPr>
              <a:t>•  Disconnection = connectivity loss; Class Addition = crop rotation introducing an unseen class; Distribution Shift = camera/lighting degradation.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D4A5C"/>
                </a:solidFill>
                <a:latin typeface="Segoe UI"/>
              </a:rPr>
              <a:t>•  Every scenario is run twice — mesh vs. a no-exchange baseline under an identical disruption schedule — so the mesh's benefit is a direct, like-for-like number, not just a description.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977640"/>
            <a:ext cx="55321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1480" y="3977640"/>
            <a:ext cx="5532120" cy="457200"/>
          </a:xfrm>
          <a:prstGeom prst="roundRect">
            <a:avLst/>
          </a:prstGeom>
          <a:solidFill>
            <a:srgbClr val="D97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Why the energy/sustainability angle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26280"/>
            <a:ext cx="5257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3D4A5C"/>
                </a:solidFill>
                <a:latin typeface="Segoe UI"/>
              </a:rPr>
              <a:t>•  Collaboration isn't free: mesh compute energy runs ~2.6–2.7x baseline compute energy in these runs — the measured cost of distillation on top of local training.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D4A5C"/>
                </a:solidFill>
                <a:latin typeface="Segoe UI"/>
              </a:rPr>
              <a:t>•  gain_per_joule (accuracy gain ÷ total energy spent) lets the resilience benefit be weighed against that cost, round by round, not assumed to be free.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D4A5C"/>
                </a:solidFill>
                <a:latin typeface="Segoe UI"/>
              </a:rPr>
              <a:t>•  Communication energy is tiny by comparison (tens of J/round) — the real cost of collaboration is compute, not the network.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77640"/>
            <a:ext cx="55321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200" y="3977640"/>
            <a:ext cx="5532120" cy="4572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What the results 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526280"/>
            <a:ext cx="5257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3D4A5C"/>
                </a:solidFill>
                <a:latin typeface="Segoe UI"/>
              </a:rPr>
              <a:t>•  Class Addition: mesh recovers 3 rounds faster than training alone — the clearest, most direct collaboration win.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D4A5C"/>
                </a:solidFill>
                <a:latin typeface="Segoe UI"/>
              </a:rPr>
              <a:t>•  Disconnection: exclusion/re-inclusion is clean (comms spend drops and returns exactly in step) — no crash, no corrupted state, even without a recovery-speed edge this run.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D4A5C"/>
                </a:solidFill>
                <a:latin typeface="Segoe UI"/>
              </a:rPr>
              <a:t>•  Distribution Shift: no node-level recovery gap, but a real, non-trivial macro-level accuracy gain across the whole mesh — the benefit shows up at the mesh level, not always the disrupted node alone.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